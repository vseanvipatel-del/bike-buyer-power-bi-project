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75484" y="2305050"/>
            <a:ext cx="82410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8D7663"/>
                </a:solidFill>
                <a:latin typeface="Poppins"/>
                <a:ea typeface="Poppins"/>
                <a:cs typeface="Poppins"/>
                <a:sym typeface="Poppins"/>
              </a:rPr>
              <a:t>BIKE SALE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66987" y="3543300"/>
            <a:ext cx="70580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E6D71"/>
                </a:solidFill>
                <a:latin typeface="Lato"/>
                <a:ea typeface="Lato"/>
                <a:cs typeface="Lato"/>
                <a:sym typeface="Lato"/>
              </a:rPr>
              <a:t>PERFORMANCE INSIGHTS &amp; STRATEGIC TRENDS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852987" y="4295775"/>
            <a:ext cx="24860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BIKE SALE DASHBOARD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000125" y="2286000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Strong Market Balance: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Near-even split between male and female purchasers.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00125" y="3038475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Peak Demographics: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Maximum engagement observed in the 40-year-old age bin.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3790950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Commute Sensitivity: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High purchase rates for short commutes (0-1 miles).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4543425"/>
            <a:ext cx="4857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Income Correlation: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Higher average income correlates with a "Yes" for bike purchase across all genders.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288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8133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83381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58628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D7663"/>
                </a:solidFill>
                <a:latin typeface="Poppins"/>
                <a:ea typeface="Poppins"/>
                <a:cs typeface="Poppins"/>
                <a:sym typeface="Poppins"/>
              </a:rPr>
              <a:t>EXECUTIVE OVERVIEW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5E6D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2907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Data reveals that customers who purchased a bike have a higher average income compared to those who did not.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D7663"/>
                </a:solidFill>
                <a:latin typeface="Poppins"/>
                <a:ea typeface="Poppins"/>
                <a:cs typeface="Poppins"/>
                <a:sym typeface="Poppins"/>
              </a:rPr>
              <a:t>INCOME PER PURCHASE GROUP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5E6D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09219"/>
            <a:ext cx="4953000" cy="99238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1156394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D7663"/>
                </a:solidFill>
                <a:latin typeface="Poppins"/>
                <a:ea typeface="Poppins"/>
                <a:cs typeface="Poppins"/>
                <a:sym typeface="Poppins"/>
              </a:rPr>
              <a:t>COMMUTE PROXIMITY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2327969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0-1 Mile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commutes represent the "sweet spot" for bike sales, with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171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successful purchases recorded.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3318569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Conversely, customers with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10+ miles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commutes are least likely to purchase, showing a steep decline in interest as distance increases.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5061644"/>
            <a:ext cx="4953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Insights suggest that bikes are primarily viewed as a solution for short-range micro-mobility.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600" y="3481387"/>
            <a:ext cx="33147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8501" y="3481387"/>
            <a:ext cx="33147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1401" y="3481387"/>
            <a:ext cx="3314700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71500" y="27003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Targeting customers in their peak earning and activity years yields the highest conversion rates.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136600" y="3862387"/>
            <a:ext cx="2552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8D7663"/>
                </a:solidFill>
                <a:latin typeface="Lato"/>
                <a:ea typeface="Lato"/>
                <a:cs typeface="Lato"/>
                <a:sym typeface="Lato"/>
              </a:rPr>
              <a:t>40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136600" y="4719637"/>
            <a:ext cx="2552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E6D71"/>
                </a:solidFill>
                <a:latin typeface="Lato"/>
                <a:ea typeface="Lato"/>
                <a:cs typeface="Lato"/>
                <a:sym typeface="Lato"/>
              </a:rPr>
              <a:t>PRIMARY AGE BIN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819501" y="3862387"/>
            <a:ext cx="2552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8D7663"/>
                </a:solidFill>
                <a:latin typeface="Lato"/>
                <a:ea typeface="Lato"/>
                <a:cs typeface="Lato"/>
                <a:sym typeface="Lato"/>
              </a:rPr>
              <a:t>185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819501" y="4719637"/>
            <a:ext cx="2552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E6D71"/>
                </a:solidFill>
                <a:latin typeface="Lato"/>
                <a:ea typeface="Lato"/>
                <a:cs typeface="Lato"/>
                <a:sym typeface="Lato"/>
              </a:rPr>
              <a:t>SALES AT PEAK (AGE 40)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502401" y="3862387"/>
            <a:ext cx="2552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8D7663"/>
                </a:solidFill>
                <a:latin typeface="Lato"/>
                <a:ea typeface="Lato"/>
                <a:cs typeface="Lato"/>
                <a:sym typeface="Lato"/>
              </a:rPr>
              <a:t>20.3M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502401" y="4719637"/>
            <a:ext cx="2552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E6D71"/>
                </a:solidFill>
                <a:latin typeface="Lato"/>
                <a:ea typeface="Lato"/>
                <a:cs typeface="Lato"/>
                <a:sym typeface="Lato"/>
              </a:rPr>
              <a:t>TOTAL REVENUE GROUP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D7663"/>
                </a:solidFill>
                <a:latin typeface="Poppins"/>
                <a:ea typeface="Poppins"/>
                <a:cs typeface="Poppins"/>
                <a:sym typeface="Poppins"/>
              </a:rPr>
              <a:t>AGE DEMOGRAPHIC PEAK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5E6D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7812" y="225266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6937" y="2871787"/>
            <a:ext cx="20955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6834187" y="3895725"/>
            <a:ext cx="381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The customer base is exceptionally balanced, suggesting that gender-neutral marketing strategies are highly effective.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2628900" y="3543300"/>
            <a:ext cx="11715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1,026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2595562" y="4086225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Total Purchasers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834187" y="2990850"/>
            <a:ext cx="3810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Male: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525 Purchasers (51%)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834187" y="3371850"/>
            <a:ext cx="3810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Female: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501 Purchasers (49%)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390787" y="2990850"/>
            <a:ext cx="238200" cy="238200"/>
          </a:xfrm>
          <a:prstGeom prst="roundRect">
            <a:avLst>
              <a:gd name="adj" fmla="val 16000"/>
            </a:avLst>
          </a:prstGeom>
          <a:solidFill>
            <a:srgbClr val="8D76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390825" y="3371850"/>
            <a:ext cx="238200" cy="238200"/>
          </a:xfrm>
          <a:prstGeom prst="roundRect">
            <a:avLst>
              <a:gd name="adj" fmla="val 16000"/>
            </a:avLst>
          </a:prstGeom>
          <a:solidFill>
            <a:srgbClr val="5E6D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D7663"/>
                </a:solidFill>
                <a:latin typeface="Poppins"/>
                <a:ea typeface="Poppins"/>
                <a:cs typeface="Poppins"/>
                <a:sym typeface="Poppins"/>
              </a:rPr>
              <a:t>MARKET SHARE BY GENDER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5E6D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8375"/>
            <a:ext cx="3492549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38375"/>
            <a:ext cx="3492549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38375"/>
            <a:ext cx="3492549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904875" y="3276600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Targeted Ads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904875" y="3800475"/>
            <a:ext cx="28257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Focus high-budget digital campaigns on the 35-45 age bracket, as they represent the highest conversion potential.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683174" y="3276600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Short-Range Focus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4683174" y="3800475"/>
            <a:ext cx="28257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Market bikes as the ultimate "First/Last Mile" solution for commuters living within 2 miles of their workplace.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461474" y="3276600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Premium Tiers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461474" y="3800475"/>
            <a:ext cx="28257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Develop premium bike models for the Male segment ($60k avg income) and tailored accessories for the Female segment.</a:t>
            </a:r>
            <a:endParaRPr/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261937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174" y="2619375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2619375"/>
            <a:ext cx="485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8D7663"/>
                </a:solidFill>
                <a:latin typeface="Poppins"/>
                <a:ea typeface="Poppins"/>
                <a:cs typeface="Poppins"/>
                <a:sym typeface="Poppins"/>
              </a:rPr>
              <a:t>ACTIONABLE STRATEGIES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5E6D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D7663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500" y="3202185"/>
            <a:ext cx="5715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105751" y="798165"/>
            <a:ext cx="398049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2805112" y="2226915"/>
            <a:ext cx="65817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3F0DF"/>
                </a:solidFill>
                <a:latin typeface="Lato"/>
                <a:ea typeface="Lato"/>
                <a:cs typeface="Lato"/>
                <a:sym typeface="Lato"/>
              </a:rPr>
              <a:t>Thank you for your attention to the Bike Sales Dashboard Analysis.</a:t>
            </a:r>
            <a:endParaRPr/>
          </a:p>
        </p:txBody>
      </p:sp>
      <p:pic>
        <p:nvPicPr>
          <p:cNvPr id="185" name="Google Shape;1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6600" y="3240285"/>
            <a:ext cx="56388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Widescreen</PresentationFormat>
  <Paragraphs>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Lato</vt:lpstr>
      <vt:lpstr>Calibri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fv8</dc:creator>
  <cp:lastModifiedBy>QSK1184</cp:lastModifiedBy>
  <cp:revision>1</cp:revision>
  <dcterms:modified xsi:type="dcterms:W3CDTF">2026-03-11T10:23:04Z</dcterms:modified>
</cp:coreProperties>
</file>